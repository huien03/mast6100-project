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591" y="-62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8F15FA-E3A0-9C29-F861-F5B800A7BDE6}"/>
              </a:ext>
            </a:extLst>
          </p:cNvPr>
          <p:cNvSpPr txBox="1"/>
          <p:nvPr/>
        </p:nvSpPr>
        <p:spPr>
          <a:xfrm>
            <a:off x="360451" y="264926"/>
            <a:ext cx="12112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Motivation &amp; Background: Customer Churn Prediction in Telecommunications</a:t>
            </a:r>
            <a:endParaRPr lang="zh-CN" altLang="en-US" sz="2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430AA-C74A-9385-DABB-011148F4887C}"/>
              </a:ext>
            </a:extLst>
          </p:cNvPr>
          <p:cNvSpPr txBox="1"/>
          <p:nvPr/>
        </p:nvSpPr>
        <p:spPr>
          <a:xfrm>
            <a:off x="1066677" y="991650"/>
            <a:ext cx="10214349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/>
              <a:t>Business Challenge: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Acquiring new customers costs 5-20× more than retaining existing ones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Telecommunications industry faces ~30% annual churn rates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Proactive prediction enables targeted retention interventions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Academic Context: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Vafeiadis et al. (2015): Ensemble methods outperform single classifiers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Ahmad et al. (2019): </a:t>
            </a:r>
            <a:r>
              <a:rPr lang="en-US" altLang="zh-CN" dirty="0" err="1"/>
              <a:t>XGBoost</a:t>
            </a:r>
            <a:r>
              <a:rPr lang="en-US" altLang="zh-CN" dirty="0"/>
              <a:t> achieved 93.3% AUC with big data platforms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Brandusoiu</a:t>
            </a:r>
            <a:r>
              <a:rPr lang="en-US" altLang="zh-CN" dirty="0"/>
              <a:t> et al. (2016): Neural networks capture nonlinear relationships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Lalwani et al. (2022): Feature selection improves accuracy and efficiency</a:t>
            </a:r>
          </a:p>
          <a:p>
            <a:pPr>
              <a:lnSpc>
                <a:spcPct val="150000"/>
              </a:lnSpc>
            </a:pPr>
            <a:r>
              <a:rPr lang="en-US" altLang="zh-CN" b="1" dirty="0"/>
              <a:t>Project Significance: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Compare traditional vs. modern machine learning approaches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Balance model complexity with interpretability for business deployment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Provide actionable insights for retention strategy design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742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8ABE-62E9-5895-552D-2EB690B7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3F99B1-42DF-800C-8FAD-3D7E88ED3C72}"/>
              </a:ext>
            </a:extLst>
          </p:cNvPr>
          <p:cNvSpPr txBox="1"/>
          <p:nvPr/>
        </p:nvSpPr>
        <p:spPr>
          <a:xfrm>
            <a:off x="381000" y="326571"/>
            <a:ext cx="7293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Research Questions &amp; Objectives</a:t>
            </a:r>
            <a:endParaRPr lang="zh-CN" altLang="en-US" sz="2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6560A-B624-B988-A971-0399C1736042}"/>
              </a:ext>
            </a:extLst>
          </p:cNvPr>
          <p:cNvSpPr txBox="1"/>
          <p:nvPr/>
        </p:nvSpPr>
        <p:spPr>
          <a:xfrm>
            <a:off x="840645" y="1062585"/>
            <a:ext cx="10214349" cy="5952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Primary Research Question: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Which classification model provides the most accurate and reliable prediction of customer churn in the telecommunications industry?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Specific Objectives: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Develop and train four distinct classification models: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Generalized Linear Model (Logistic Regression)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Random Forest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XGBoost</a:t>
            </a:r>
            <a:endParaRPr lang="en-US" altLang="zh-CN" dirty="0"/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Deep Learning Neural Network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Compare model performance using multiple metrics (accuracy, sensitivity, specificity, AUC)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Identify key drivers of customer churn behavior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Evaluate trade-offs between model complexity and interpretability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Expected Outcomes: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Recommendation for optimal model for business deployment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Actionable insights for customer retention strategies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24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E26B7-F831-A3F0-5729-B2C1E2FBC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49D089-B7B0-DD5E-31A8-110861C46597}"/>
              </a:ext>
            </a:extLst>
          </p:cNvPr>
          <p:cNvSpPr txBox="1"/>
          <p:nvPr/>
        </p:nvSpPr>
        <p:spPr>
          <a:xfrm>
            <a:off x="381000" y="326571"/>
            <a:ext cx="8536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Data Overview: Telco Customer Churn Dataset</a:t>
            </a:r>
            <a:endParaRPr lang="zh-CN" altLang="en-US" sz="2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9DA358-2A60-6AF9-E90E-84FA099A0682}"/>
              </a:ext>
            </a:extLst>
          </p:cNvPr>
          <p:cNvSpPr txBox="1"/>
          <p:nvPr/>
        </p:nvSpPr>
        <p:spPr>
          <a:xfrm>
            <a:off x="131728" y="849791"/>
            <a:ext cx="10214349" cy="6991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Data Source: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Telco Customer Churn dataset from Kaggle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7,043 customer records (7,032 after cleaning)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Publicly available benchmark dataset for churn prediction research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Dataset Characteristics: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Target variable: Churn (Yes/No) - 26.6% churn rate (class imbalance)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19 predictor variables across four categories: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Demographics: gender, senior citizen, partner, dependents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Services: phone, internet type, add-ons (security, backup, streaming)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Account: tenure, contract type, payment method, billing</a:t>
            </a:r>
          </a:p>
          <a:p>
            <a:pPr marL="7429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Financial: monthly charges, total charges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Data Quality: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Missing values: 0.16% (11 observations removed)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Train/test split: 80/20 (5,626/1,406) with stratified sampling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Key Initial Findings: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Strong relationship between contract type and churn (42.7% vs. 2.8%)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New customers (0-10 months) at highest risk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  <p:pic>
        <p:nvPicPr>
          <p:cNvPr id="3" name="Picture 2" descr="A green and red chart&#10;&#10;AI-generated content may be incorrect.">
            <a:extLst>
              <a:ext uri="{FF2B5EF4-FFF2-40B4-BE49-F238E27FC236}">
                <a16:creationId xmlns:a16="http://schemas.microsoft.com/office/drawing/2014/main" id="{64A77432-6515-DDAB-6666-7396F9456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222" y="571794"/>
            <a:ext cx="3354512" cy="2515884"/>
          </a:xfrm>
          <a:prstGeom prst="rect">
            <a:avLst/>
          </a:prstGeo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8A4B3D4A-474C-8AF6-41EA-472B58D1BE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341" y="3831372"/>
            <a:ext cx="3265256" cy="217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67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E0997-24DF-051C-A2C8-A3D76899B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50381F-6E24-095C-8B9A-10E29B917443}"/>
              </a:ext>
            </a:extLst>
          </p:cNvPr>
          <p:cNvSpPr txBox="1"/>
          <p:nvPr/>
        </p:nvSpPr>
        <p:spPr>
          <a:xfrm>
            <a:off x="381000" y="326571"/>
            <a:ext cx="8536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Methodology: Four Classification Approaches</a:t>
            </a:r>
            <a:endParaRPr lang="zh-CN" altLang="en-US" sz="2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F6F0B3-9554-9800-0FA7-C7E468CCBD12}"/>
              </a:ext>
            </a:extLst>
          </p:cNvPr>
          <p:cNvSpPr txBox="1"/>
          <p:nvPr/>
        </p:nvSpPr>
        <p:spPr>
          <a:xfrm>
            <a:off x="131728" y="849791"/>
            <a:ext cx="10214349" cy="73379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/>
              <a:t>1. Logistic Regression (GLM):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Baseline statistical model with logit link function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Advantage: Interpretable coefficients, easy deployment</a:t>
            </a:r>
          </a:p>
          <a:p>
            <a:pPr>
              <a:lnSpc>
                <a:spcPct val="125000"/>
              </a:lnSpc>
            </a:pPr>
            <a:r>
              <a:rPr lang="en-US" altLang="zh-CN" b="1"/>
              <a:t>2. Random Forest: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Ensemble of 500 decision trees with bootstrap sampling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Advantage: Handles nonlinear relationships, feature importance rankings</a:t>
            </a:r>
          </a:p>
          <a:p>
            <a:pPr>
              <a:lnSpc>
                <a:spcPct val="125000"/>
              </a:lnSpc>
            </a:pPr>
            <a:r>
              <a:rPr lang="en-US" altLang="zh-CN" b="1"/>
              <a:t>3. XGBoost: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Gradient boosting with regularization (max_depth=6, eta=0.3)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Advantage: Effective for structured data, prevents overfitting</a:t>
            </a:r>
          </a:p>
          <a:p>
            <a:pPr>
              <a:lnSpc>
                <a:spcPct val="125000"/>
              </a:lnSpc>
            </a:pPr>
            <a:r>
              <a:rPr lang="en-US" altLang="zh-CN" b="1"/>
              <a:t>4. Deep Learning Neural Network: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Architecture: 31 → 64 → 32 → 16 → 1 (ReLU + dropout)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Trained for 50 epochs with Adam optimizer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Advantage: Learns hierarchical representations</a:t>
            </a:r>
          </a:p>
          <a:p>
            <a:pPr>
              <a:lnSpc>
                <a:spcPct val="125000"/>
              </a:lnSpc>
            </a:pPr>
            <a:r>
              <a:rPr lang="en-US" altLang="zh-CN" b="1">
                <a:solidFill>
                  <a:srgbClr val="FF0000"/>
                </a:solidFill>
              </a:rPr>
              <a:t>Evaluation Metrics: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Accuracy, Sensitivity (Recall), Specificity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AUC-ROC for threshold-independent assessment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Business focus: Minimize false negatives (missed churners)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B6EE5-D465-C50F-F33A-ACA7E39482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951" y="1373011"/>
            <a:ext cx="3148905" cy="314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28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D1D02-FF2E-D19A-9278-ACC03CFF0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7610D8-4F3D-EF93-E39B-3B8EE3664124}"/>
              </a:ext>
            </a:extLst>
          </p:cNvPr>
          <p:cNvSpPr txBox="1"/>
          <p:nvPr/>
        </p:nvSpPr>
        <p:spPr>
          <a:xfrm>
            <a:off x="381000" y="326571"/>
            <a:ext cx="10530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Results: Model Performance &amp; Comparison with Classical Methods</a:t>
            </a:r>
            <a:endParaRPr lang="zh-CN" altLang="en-US" sz="2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3307FC-335C-38BF-51E0-C4A20918155D}"/>
              </a:ext>
            </a:extLst>
          </p:cNvPr>
          <p:cNvSpPr txBox="1"/>
          <p:nvPr/>
        </p:nvSpPr>
        <p:spPr>
          <a:xfrm>
            <a:off x="381000" y="1257793"/>
            <a:ext cx="10214349" cy="6645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/>
              <a:t>Key Findings: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Winner: Logistic Regression - Best overall performance despite being simplest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Simpler model outperforms complex algorithms (</a:t>
            </a:r>
            <a:r>
              <a:rPr lang="en-US" altLang="zh-CN" dirty="0" err="1"/>
              <a:t>XGBoost</a:t>
            </a:r>
            <a:r>
              <a:rPr lang="en-US" altLang="zh-CN" dirty="0"/>
              <a:t>, Deep Learning)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Linear relationships dominate this dataset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Comparison with Classical Methods: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Logistic Regression represents classical statistical approach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Random Forest improves on classical decision trees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XGBoost</a:t>
            </a:r>
            <a:r>
              <a:rPr lang="en-US" altLang="zh-CN" dirty="0"/>
              <a:t> and Deep Learning represent modern alternatives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Trade-off: Complexity vs. interpretability vs. performance</a:t>
            </a:r>
          </a:p>
          <a:p>
            <a:pPr>
              <a:lnSpc>
                <a:spcPct val="125000"/>
              </a:lnSpc>
            </a:pPr>
            <a:r>
              <a:rPr lang="en-US" altLang="zh-CN" b="1" dirty="0"/>
              <a:t>Business Insights: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Contract type is strongest predictor (2-year contracts reduce churn by 78%)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Tenure negatively correlates with churn (-0.35)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Recommend Logistic Regression for deployment (interpretable + accurate)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9213483-2AAD-324E-B0CE-57F752D79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923" y="-130138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46557C-2664-83C0-DE7B-0B7112C07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69118"/>
              </p:ext>
            </p:extLst>
          </p:nvPr>
        </p:nvGraphicFramePr>
        <p:xfrm>
          <a:off x="8465905" y="1530850"/>
          <a:ext cx="3524035" cy="3641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04807">
                  <a:extLst>
                    <a:ext uri="{9D8B030D-6E8A-4147-A177-3AD203B41FA5}">
                      <a16:colId xmlns:a16="http://schemas.microsoft.com/office/drawing/2014/main" val="4292931295"/>
                    </a:ext>
                  </a:extLst>
                </a:gridCol>
                <a:gridCol w="704807">
                  <a:extLst>
                    <a:ext uri="{9D8B030D-6E8A-4147-A177-3AD203B41FA5}">
                      <a16:colId xmlns:a16="http://schemas.microsoft.com/office/drawing/2014/main" val="1101037540"/>
                    </a:ext>
                  </a:extLst>
                </a:gridCol>
                <a:gridCol w="704807">
                  <a:extLst>
                    <a:ext uri="{9D8B030D-6E8A-4147-A177-3AD203B41FA5}">
                      <a16:colId xmlns:a16="http://schemas.microsoft.com/office/drawing/2014/main" val="2236511948"/>
                    </a:ext>
                  </a:extLst>
                </a:gridCol>
                <a:gridCol w="704807">
                  <a:extLst>
                    <a:ext uri="{9D8B030D-6E8A-4147-A177-3AD203B41FA5}">
                      <a16:colId xmlns:a16="http://schemas.microsoft.com/office/drawing/2014/main" val="324476826"/>
                    </a:ext>
                  </a:extLst>
                </a:gridCol>
                <a:gridCol w="704807">
                  <a:extLst>
                    <a:ext uri="{9D8B030D-6E8A-4147-A177-3AD203B41FA5}">
                      <a16:colId xmlns:a16="http://schemas.microsoft.com/office/drawing/2014/main" val="3264146745"/>
                    </a:ext>
                  </a:extLst>
                </a:gridCol>
              </a:tblGrid>
              <a:tr h="7062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Model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Accuracy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Sensitivity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Specificity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AUC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7563644"/>
                  </a:ext>
                </a:extLst>
              </a:tr>
              <a:tr h="81647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Logistic Regression</a:t>
                      </a:r>
                      <a:endParaRPr lang="zh-CN" sz="1100" kern="100" dirty="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0.827</a:t>
                      </a:r>
                      <a:endParaRPr lang="zh-CN" sz="1100" kern="100" dirty="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0.573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0.916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0.861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8597877"/>
                  </a:ext>
                </a:extLst>
              </a:tr>
              <a:tr h="7062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Random Forest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0.814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0.501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0.923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0.848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751336"/>
                  </a:ext>
                </a:extLst>
              </a:tr>
              <a:tr h="7062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XGBoost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0.795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0.512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0.894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0.825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5179028"/>
                  </a:ext>
                </a:extLst>
              </a:tr>
              <a:tr h="70624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Deep Learning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0.812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0.543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>
                          <a:effectLst/>
                        </a:rPr>
                        <a:t>0.905</a:t>
                      </a:r>
                      <a:endParaRPr lang="zh-CN" sz="1100" kern="10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sz="1200" kern="100" dirty="0">
                          <a:effectLst/>
                        </a:rPr>
                        <a:t>0.846</a:t>
                      </a:r>
                      <a:endParaRPr lang="zh-CN" sz="1100" kern="100" dirty="0"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0298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96935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644</Words>
  <Application>Microsoft Office PowerPoint</Application>
  <PresentationFormat>Widescreen</PresentationFormat>
  <Paragraphs>111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WPS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... User</dc:creator>
  <cp:lastModifiedBy>office</cp:lastModifiedBy>
  <cp:revision>5</cp:revision>
  <dcterms:created xsi:type="dcterms:W3CDTF">2023-08-09T12:44:00Z</dcterms:created>
  <dcterms:modified xsi:type="dcterms:W3CDTF">2025-12-11T18:44:11Z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